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nTIsH8ETctPOBiWsvMAZLF/V0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202023" y="3927931"/>
            <a:ext cx="5596812" cy="5930397"/>
          </a:xfrm>
          <a:custGeom>
            <a:rect b="b" l="l" r="r" t="t"/>
            <a:pathLst>
              <a:path extrusionOk="0" h="5930397" w="5596812">
                <a:moveTo>
                  <a:pt x="0" y="0"/>
                </a:moveTo>
                <a:lnTo>
                  <a:pt x="5596812" y="0"/>
                </a:lnTo>
                <a:lnTo>
                  <a:pt x="5596812" y="5930397"/>
                </a:lnTo>
                <a:lnTo>
                  <a:pt x="0" y="5930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516957" y="1728176"/>
            <a:ext cx="11419096" cy="3041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Atık Türü Tanıma Sistemi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 rot="-3037033">
            <a:off x="7754310" y="5487841"/>
            <a:ext cx="1376588" cy="4114800"/>
          </a:xfrm>
          <a:custGeom>
            <a:rect b="b" l="l" r="r" t="t"/>
            <a:pathLst>
              <a:path extrusionOk="0" h="4114800" w="1376588">
                <a:moveTo>
                  <a:pt x="0" y="0"/>
                </a:moveTo>
                <a:lnTo>
                  <a:pt x="1376588" y="0"/>
                </a:lnTo>
                <a:lnTo>
                  <a:pt x="13765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782962" y="5111083"/>
            <a:ext cx="57096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1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Makine Görmesi Dönem Projesi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99612" y="8444126"/>
            <a:ext cx="6676248" cy="181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0668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Merve AYDIN (030723095)</a:t>
            </a:r>
            <a:endParaRPr/>
          </a:p>
          <a:p>
            <a:pPr indent="-280668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Elif Beraa ÇIĞRIKÇI (030721059)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5785859" y="7517934"/>
            <a:ext cx="6716281" cy="2527001"/>
          </a:xfrm>
          <a:custGeom>
            <a:rect b="b" l="l" r="r" t="t"/>
            <a:pathLst>
              <a:path extrusionOk="0" h="2527001" w="6716281">
                <a:moveTo>
                  <a:pt x="0" y="0"/>
                </a:moveTo>
                <a:lnTo>
                  <a:pt x="6716282" y="0"/>
                </a:lnTo>
                <a:lnTo>
                  <a:pt x="6716282" y="2527001"/>
                </a:lnTo>
                <a:lnTo>
                  <a:pt x="0" y="2527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 rot="3795571">
            <a:off x="-276305" y="53644"/>
            <a:ext cx="2610011" cy="2414260"/>
          </a:xfrm>
          <a:custGeom>
            <a:rect b="b" l="l" r="r" t="t"/>
            <a:pathLst>
              <a:path extrusionOk="0" h="2414260" w="2610011">
                <a:moveTo>
                  <a:pt x="0" y="0"/>
                </a:moveTo>
                <a:lnTo>
                  <a:pt x="2610010" y="0"/>
                </a:lnTo>
                <a:lnTo>
                  <a:pt x="2610010" y="2414260"/>
                </a:lnTo>
                <a:lnTo>
                  <a:pt x="0" y="24142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744790" y="1403649"/>
            <a:ext cx="6365448" cy="153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0" y="2459032"/>
            <a:ext cx="17943562" cy="5248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8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905" lvl="1" marL="80381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3"/>
              <a:buFont typeface="Arial"/>
              <a:buChar char="•"/>
            </a:pPr>
            <a:r>
              <a:rPr b="1" i="0" lang="en-US" sz="372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Problem:</a:t>
            </a:r>
            <a:r>
              <a:rPr b="0" i="0" lang="en-US" sz="372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Artan atık miktarı ve geri dönüşüm süreçlerinde insan kaynaklı ayrıştırma hataları.</a:t>
            </a:r>
            <a:endParaRPr/>
          </a:p>
          <a:p>
            <a:pPr indent="-401905" lvl="1" marL="80381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3"/>
              <a:buFont typeface="Arial"/>
              <a:buChar char="•"/>
            </a:pPr>
            <a:r>
              <a:rPr b="1" i="0" lang="en-US" sz="372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Amaç:</a:t>
            </a:r>
            <a:r>
              <a:rPr b="0" i="0" lang="en-US" sz="372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Görüntü işleme ve derin öğrenme teknikleri ile atıkların otomatik, hızlı ve doğru sınıflandırılmasını sağlamak.</a:t>
            </a:r>
            <a:endParaRPr/>
          </a:p>
          <a:p>
            <a:pPr indent="-401905" lvl="1" marL="80381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3"/>
              <a:buFont typeface="Arial"/>
              <a:buChar char="•"/>
            </a:pPr>
            <a:r>
              <a:rPr b="1" i="0" lang="en-US" sz="372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Hedef:</a:t>
            </a:r>
            <a:r>
              <a:rPr b="0" i="0" lang="en-US" sz="372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Geri dönüşüm verimliliğini artırmak ve mobil tabanlı erişilebilir bir çözüm sunmak.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2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13739663" y="872062"/>
            <a:ext cx="4548337" cy="4701123"/>
          </a:xfrm>
          <a:custGeom>
            <a:rect b="b" l="l" r="r" t="t"/>
            <a:pathLst>
              <a:path extrusionOk="0" h="4701123" w="4548337">
                <a:moveTo>
                  <a:pt x="0" y="0"/>
                </a:moveTo>
                <a:lnTo>
                  <a:pt x="4548337" y="0"/>
                </a:lnTo>
                <a:lnTo>
                  <a:pt x="4548337" y="4701123"/>
                </a:lnTo>
                <a:lnTo>
                  <a:pt x="0" y="4701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 rot="6204791">
            <a:off x="15123682" y="369398"/>
            <a:ext cx="2850808" cy="780409"/>
          </a:xfrm>
          <a:custGeom>
            <a:rect b="b" l="l" r="r" t="t"/>
            <a:pathLst>
              <a:path extrusionOk="0" h="780409" w="2850808">
                <a:moveTo>
                  <a:pt x="0" y="0"/>
                </a:moveTo>
                <a:lnTo>
                  <a:pt x="2850808" y="0"/>
                </a:lnTo>
                <a:lnTo>
                  <a:pt x="2850808" y="780409"/>
                </a:lnTo>
                <a:lnTo>
                  <a:pt x="0" y="780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 txBox="1"/>
          <p:nvPr/>
        </p:nvSpPr>
        <p:spPr>
          <a:xfrm>
            <a:off x="1028700" y="1123950"/>
            <a:ext cx="6995336" cy="216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Materyal ve Veri Seti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556237" y="3984786"/>
            <a:ext cx="14413500" cy="4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 Kaynağı: Kampüs ortamında çekilen özgün görüntüler.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Platform: Etiketleme ve veri yönetimi için Roboflow.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Sınıflar (5 Adet):</a:t>
            </a:r>
            <a:endParaRPr/>
          </a:p>
          <a:p>
            <a:pPr indent="-424833" lvl="2" marL="1274502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⚬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Cam, Metal, Plastik, Kâğıt, Pil.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 Dağılımı: %80 Eğitim, %10 Doğrulama, %10 Test.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Cam:311 Kağıt:326 Metal:405 Pil:391 Plastik:368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16209573" y="279795"/>
            <a:ext cx="1886616" cy="1886616"/>
          </a:xfrm>
          <a:custGeom>
            <a:rect b="b" l="l" r="r" t="t"/>
            <a:pathLst>
              <a:path extrusionOk="0" h="1886616" w="1886616">
                <a:moveTo>
                  <a:pt x="0" y="0"/>
                </a:moveTo>
                <a:lnTo>
                  <a:pt x="1886616" y="0"/>
                </a:lnTo>
                <a:lnTo>
                  <a:pt x="1886616" y="1886616"/>
                </a:lnTo>
                <a:lnTo>
                  <a:pt x="0" y="1886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4"/>
          <p:cNvSpPr/>
          <p:nvPr/>
        </p:nvSpPr>
        <p:spPr>
          <a:xfrm>
            <a:off x="13970610" y="279795"/>
            <a:ext cx="1874065" cy="2013156"/>
          </a:xfrm>
          <a:custGeom>
            <a:rect b="b" l="l" r="r" t="t"/>
            <a:pathLst>
              <a:path extrusionOk="0" h="2013156" w="1874065">
                <a:moveTo>
                  <a:pt x="0" y="0"/>
                </a:moveTo>
                <a:lnTo>
                  <a:pt x="1874065" y="0"/>
                </a:lnTo>
                <a:lnTo>
                  <a:pt x="1874065" y="2013156"/>
                </a:lnTo>
                <a:lnTo>
                  <a:pt x="0" y="2013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4"/>
          <p:cNvSpPr/>
          <p:nvPr/>
        </p:nvSpPr>
        <p:spPr>
          <a:xfrm>
            <a:off x="11366877" y="279795"/>
            <a:ext cx="2113317" cy="1886616"/>
          </a:xfrm>
          <a:custGeom>
            <a:rect b="b" l="l" r="r" t="t"/>
            <a:pathLst>
              <a:path extrusionOk="0" h="1886616" w="2113317">
                <a:moveTo>
                  <a:pt x="0" y="0"/>
                </a:moveTo>
                <a:lnTo>
                  <a:pt x="2113317" y="0"/>
                </a:lnTo>
                <a:lnTo>
                  <a:pt x="2113317" y="1886616"/>
                </a:lnTo>
                <a:lnTo>
                  <a:pt x="0" y="1886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4"/>
          <p:cNvSpPr txBox="1"/>
          <p:nvPr/>
        </p:nvSpPr>
        <p:spPr>
          <a:xfrm>
            <a:off x="1028700" y="1193772"/>
            <a:ext cx="9238558" cy="2303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Yöntem ve Mimari (YOLOv8)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1409476" y="4642940"/>
            <a:ext cx="8477006" cy="28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671" lvl="1" marL="713341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4"/>
              <a:buFont typeface="Arial"/>
              <a:buChar char="•"/>
            </a:pPr>
            <a:r>
              <a:rPr b="0" i="0" lang="en-US" sz="330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 aşamalı algılama (Hız).</a:t>
            </a:r>
            <a:endParaRPr/>
          </a:p>
          <a:p>
            <a:pPr indent="-356671" lvl="1" marL="713341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4"/>
              <a:buFont typeface="Arial"/>
              <a:buChar char="•"/>
            </a:pPr>
            <a:r>
              <a:rPr b="0" i="0" lang="en-US" sz="330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Gerçek zamanlı çalışma yeteneği.</a:t>
            </a:r>
            <a:endParaRPr/>
          </a:p>
          <a:p>
            <a:pPr indent="-356671" lvl="1" marL="713341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4"/>
              <a:buFont typeface="Arial"/>
              <a:buChar char="•"/>
            </a:pPr>
            <a:r>
              <a:rPr b="0" i="0" lang="en-US" sz="330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Mobil cihazlar için optimize edilebilirlik.</a:t>
            </a:r>
            <a:endParaRPr/>
          </a:p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716169" y="7452329"/>
            <a:ext cx="5953082" cy="1140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Eğitim Ortamı:</a:t>
            </a:r>
            <a:r>
              <a:rPr b="0" i="0" lang="en-US" sz="330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Google Colab (T4 GPU).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409476" y="4419297"/>
            <a:ext cx="4745162" cy="637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Neden YOLO?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5"/>
          <p:cNvGraphicFramePr/>
          <p:nvPr/>
        </p:nvGraphicFramePr>
        <p:xfrm>
          <a:off x="809184" y="5143500"/>
          <a:ext cx="9429750" cy="3143250"/>
        </p:xfrm>
        <a:graphic>
          <a:graphicData uri="http://schemas.openxmlformats.org/presentationml/2006/ole">
            <mc:AlternateContent>
              <mc:Choice Requires="v">
                <p:oleObj r:id="rId4" imgH="3143250" imgW="9429750" progId="Excel.Sheet.12" spid="_x0000_s1">
                  <p:embed/>
                </p:oleObj>
              </mc:Choice>
              <mc:Fallback>
                <p:oleObj r:id="rId5" imgH="3143250" imgW="9429750" progId="Excel.Sheet.12">
                  <p:embed/>
                  <p:pic>
                    <p:nvPicPr>
                      <p:cNvPr id="120" name="Google Shape;120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09184" y="5143500"/>
                        <a:ext cx="9429750" cy="314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Google Shape;121;p5"/>
          <p:cNvSpPr txBox="1"/>
          <p:nvPr/>
        </p:nvSpPr>
        <p:spPr>
          <a:xfrm>
            <a:off x="1028700" y="1123950"/>
            <a:ext cx="11236310" cy="216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Karşılaştırması ve Seçimi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028700" y="3416998"/>
            <a:ext cx="7111216" cy="1029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Denenen Modeller: </a:t>
            </a: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YOLOv8n, YOLOv9c, YOLOv11n, YOLOv12n.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9477184" y="4665111"/>
            <a:ext cx="8176473" cy="3649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1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YOLOv8n:</a:t>
            </a: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%84.7 mAP (En Yüksek) - 42 dakika (En Hızlı Eğitim).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1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Diğerleri:</a:t>
            </a: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Benzer doğruluk oranları ancak daha düşük hız veya verimlilik.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1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Sonuç: </a:t>
            </a: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kararlı ve hızlı sonuç verdiği için YOLOv8n seçildi.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13255608" y="1028700"/>
            <a:ext cx="4003692" cy="3308051"/>
          </a:xfrm>
          <a:custGeom>
            <a:rect b="b" l="l" r="r" t="t"/>
            <a:pathLst>
              <a:path extrusionOk="0" h="3308051" w="4003692">
                <a:moveTo>
                  <a:pt x="0" y="0"/>
                </a:moveTo>
                <a:lnTo>
                  <a:pt x="4003692" y="0"/>
                </a:lnTo>
                <a:lnTo>
                  <a:pt x="4003692" y="3308051"/>
                </a:lnTo>
                <a:lnTo>
                  <a:pt x="0" y="3308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6"/>
          <p:cNvSpPr txBox="1"/>
          <p:nvPr/>
        </p:nvSpPr>
        <p:spPr>
          <a:xfrm>
            <a:off x="1028700" y="1907942"/>
            <a:ext cx="10270071" cy="1099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Deneysel Sonuçlar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1028700" y="3628518"/>
            <a:ext cx="11125067" cy="35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6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803" lvl="1" marL="723609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Eğitim Süresi:</a:t>
            </a:r>
            <a:r>
              <a:rPr b="0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50 Epoch (Yaklaşık 45 dakika).</a:t>
            </a:r>
            <a:endParaRPr/>
          </a:p>
          <a:p>
            <a:pPr indent="-361803" lvl="1" marL="723609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Genel Başarı (mAP50):</a:t>
            </a:r>
            <a:r>
              <a:rPr b="0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%84.7.</a:t>
            </a:r>
            <a:endParaRPr/>
          </a:p>
          <a:p>
            <a:pPr indent="-361803" lvl="1" marL="723609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Precision:</a:t>
            </a:r>
            <a:r>
              <a:rPr b="0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%83.3.</a:t>
            </a:r>
            <a:endParaRPr/>
          </a:p>
          <a:p>
            <a:pPr indent="-361803" lvl="1" marL="723609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Recall: </a:t>
            </a:r>
            <a:r>
              <a:rPr b="0" i="0" lang="en-US" sz="3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%78.4.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5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7"/>
          <p:cNvGraphicFramePr/>
          <p:nvPr/>
        </p:nvGraphicFramePr>
        <p:xfrm>
          <a:off x="3844059" y="6125482"/>
          <a:ext cx="11315700" cy="4400550"/>
        </p:xfrm>
        <a:graphic>
          <a:graphicData uri="http://schemas.openxmlformats.org/presentationml/2006/ole">
            <mc:AlternateContent>
              <mc:Choice Requires="v">
                <p:oleObj r:id="rId4" imgH="4400550" imgW="11315700" progId="Excel.Sheet.12" spid="_x0000_s1">
                  <p:embed/>
                </p:oleObj>
              </mc:Choice>
              <mc:Fallback>
                <p:oleObj r:id="rId5" imgH="4400550" imgW="11315700" progId="Excel.Sheet.12">
                  <p:embed/>
                  <p:pic>
                    <p:nvPicPr>
                      <p:cNvPr id="135" name="Google Shape;135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44059" y="6125482"/>
                        <a:ext cx="11315700" cy="440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Google Shape;136;p7"/>
          <p:cNvSpPr txBox="1"/>
          <p:nvPr/>
        </p:nvSpPr>
        <p:spPr>
          <a:xfrm>
            <a:off x="1028700" y="1123950"/>
            <a:ext cx="8668000" cy="1099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Sınıf Bazlı Analiz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690938" y="1952303"/>
            <a:ext cx="11669816" cy="41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1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Başarılı Sınıflar:</a:t>
            </a:r>
            <a:endParaRPr/>
          </a:p>
          <a:p>
            <a:pPr indent="-424833" lvl="2" marL="1274502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⚬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Metal (%94.3) ve Pil (%94.0).</a:t>
            </a:r>
            <a:endParaRPr/>
          </a:p>
          <a:p>
            <a:pPr indent="-424833" lvl="2" marL="1274502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⚬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Neden? Belirgin şekil ve yüzey özellikleri.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1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Geliştirilmesi Gereken Sınıf:</a:t>
            </a:r>
            <a:endParaRPr/>
          </a:p>
          <a:p>
            <a:pPr indent="-424833" lvl="2" marL="1274502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⚬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Plastik (%61.8).</a:t>
            </a:r>
            <a:endParaRPr/>
          </a:p>
          <a:p>
            <a:pPr indent="-424833" lvl="2" marL="1274502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⚬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Neden? Şeffaflık, şekil bozukluğu ve arka planla karışması.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1028700" y="1123950"/>
            <a:ext cx="9313226" cy="216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 Uygulama Entegrasyonu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1037470" y="3300196"/>
            <a:ext cx="8190286" cy="3629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Format Dönüşümü: PyTorch (.pt) -&gt; TensorFlow Lite (.tflite).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Optimizasyon: Mobil cihaz kaynaklarını yormayacak "Float32" formatı.</a:t>
            </a:r>
            <a:endParaRPr/>
          </a:p>
          <a:p>
            <a:pPr indent="-318624" lvl="1" marL="63725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Char char="•"/>
            </a:pPr>
            <a:r>
              <a:rPr b="0" i="0" lang="en-US" sz="295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Uygulama: Android ortamında canlı test.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6346211" y="1123950"/>
            <a:ext cx="5665959" cy="1099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Canlı Demo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05852" y="4154616"/>
            <a:ext cx="2038936" cy="197776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/>
        </p:nvSpPr>
        <p:spPr>
          <a:xfrm>
            <a:off x="4132131" y="4644688"/>
            <a:ext cx="10023739" cy="1572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Teşekkürler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